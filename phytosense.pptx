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828800" cy="182880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474720"/>
            <a:ext cx="1097280" cy="10972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26280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4526280"/>
            <a:ext cx="164592" cy="164592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7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PhytoSense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Acoustic and Environmental Sensor Mesh Network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Oulu Botanical Garden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Romeo &amp; Julia Greenhouses  |  May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5029200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605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make sounds when stressed. 1,200 exotic species. Nobody has listened yet.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Scientific Foundation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6517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2651760" cy="731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Khait et al., Cell 2023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emit ultrasonic clicks (20-100 kHz) when stressed by drought or injury. Detectable up to 5 metres away.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72968" y="896112"/>
            <a:ext cx="26517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896112"/>
            <a:ext cx="2651760" cy="731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Maize disease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4630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IoT sensors detected northern leaf blight 4-5 days before visual symptoms appeared.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25896" y="896112"/>
            <a:ext cx="26517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896112"/>
            <a:ext cx="2651760" cy="731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Real-world conditions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63056" y="14630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stay detectable in noisy environments including wind, rain, and visitor activity.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20040" y="4434840"/>
            <a:ext cx="8503920" cy="5669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6227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field does not have yet: acoustic data from a diverse mixed-species greenhouse. Romeo &amp; Julia hold 1,200 species from 4 climate zones.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PhytoSense?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wireless sensor mesh network installed across Romeo and Julia.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carries three sensors: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92608" cy="29260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microphone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plant stress clicks in the 20-100 kHz 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70632"/>
            <a:ext cx="292608" cy="29260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724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probe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zones that are too dry or overwatered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292608" cy="29260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5295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+ temperature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fungal risk conditions before damage appears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822960"/>
            <a:ext cx="3749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868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Layers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0" y="1371600"/>
            <a:ext cx="3383280" cy="7772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1426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Nodes (x4)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mic + soil + humidity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2148840"/>
            <a:ext cx="0" cy="301752"/>
          </a:xfrm>
          <a:prstGeom prst="line">
            <a:avLst/>
          </a:prstGeom>
          <a:noFill/>
          <a:ln w="19050">
            <a:solidFill>
              <a:srgbClr val="95D5B2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5303520" y="2450592"/>
            <a:ext cx="338328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25054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Node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2862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sync, localisation, MQTT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95160" y="3227832"/>
            <a:ext cx="0" cy="301752"/>
          </a:xfrm>
          <a:prstGeom prst="line">
            <a:avLst/>
          </a:prstGeom>
          <a:noFill/>
          <a:ln w="19050">
            <a:solidFill>
              <a:srgbClr val="95D5B2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5303520" y="3529584"/>
            <a:ext cx="338328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94960" y="3584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Hub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3941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alerts, Excel logger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Layers of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39776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First-of-its-kind research contribution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systematic acoustic survey across 1,200 exotic species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140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Correlate acoustic events with the garden's accession 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Dataset cross-referenced with soil moisture and humidity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381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Methodology replicable by other botanical gardens worldwide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Direct pathway to 3 publication opportunities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914400"/>
            <a:ext cx="3931920" cy="39776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024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day one for garden staff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901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24/7 zone-level humidity, temperature, and soil moisture monitoring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4140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Instant alerts when conditions drift outside safe thresholds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Visitor impact data across opening hours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4381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Battery status and node health panel for staff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dashboard display for visitors as an interactive exhibit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1005840"/>
            <a:ext cx="0" cy="3794760"/>
          </a:xfrm>
          <a:prstGeom prst="line">
            <a:avLst/>
          </a:prstGeom>
          <a:noFill/>
          <a:ln w="10160">
            <a:solidFill>
              <a:srgbClr val="95D5B2"/>
            </a:solidFill>
            <a:prstDash val="sysDot"/>
          </a:ln>
        </p:spPr>
      </p:sp>
      <p:sp>
        <p:nvSpPr>
          <p:cNvPr id="21" name="Text 19"/>
          <p:cNvSpPr/>
          <p:nvPr/>
        </p:nvSpPr>
        <p:spPr>
          <a:xfrm>
            <a:off x="420624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Romeo &amp; Julia?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northernmost scientific gardens in the world. Two pyramid greenhouses. 1,200 exotic species from 4 climate zones.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4023360" cy="32461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&amp; Subtropical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Orchids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Carnivorous plants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5112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Lianas &amp; aquatic plants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9410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Tropical fruits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4023360" cy="3246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Mediterranean, Desert &amp; Temperate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Olives &amp; vines (Vitis vinifera)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Geraniums &amp; araucaria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5112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Desert succulents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9410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Temperate woodland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7365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laboratory in the world has access to this species diversity under one roof.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Publication Opportunities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74320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987552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Species Acoustic Survey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2468880" cy="1024128"/>
          </a:xfrm>
          <a:prstGeom prst="rect">
            <a:avLst/>
          </a:prstGeom>
          <a:solidFill>
            <a:srgbClr val="F8FAF9"/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journals: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Signaling &amp; Behavior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Plant Science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27355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of acoustic emission profiles across tropical, Mediterranean, and desert species in a real greenhouse. Fills a direct gap in the phytoacoustics literature.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896112"/>
            <a:ext cx="274320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987552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157276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Paper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2148840"/>
            <a:ext cx="2468880" cy="1024128"/>
          </a:xfrm>
          <a:prstGeom prst="rect">
            <a:avLst/>
          </a:prstGeom>
          <a:solidFill>
            <a:srgbClr val="F8FAF9"/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journals: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4505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HardwareX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in Ecology &amp; Evolution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327355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standardised open-source protocol for deploying low-cost acoustic mesh networks in mixed-species botanical collections. Replicable by any botanical garden.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896112"/>
            <a:ext cx="274320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78040" y="987552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157276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 Monitoring Study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2148840"/>
            <a:ext cx="2468880" cy="1024128"/>
          </a:xfrm>
          <a:prstGeom prst="rect">
            <a:avLst/>
          </a:prstGeom>
          <a:solidFill>
            <a:srgbClr val="F8FAF9"/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journals: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4505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Biosystems Engineering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Electronics in Agriculture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327355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Microclimate heterogeneity across Romeo and Julia over a full seasonal cycle, including the impact of Finnish winter and daily visitor traffic on plant zones.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0" y="137160"/>
            <a:ext cx="3200400" cy="12984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0" y="1828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~EUR 218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0" y="987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cost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5166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25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microcontrollers (x5)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~EUR 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MEMS microphones (x4)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~EUR 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 sensors (x8)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~EUR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SHT31-D humidity + temp sensors (x4)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~EUR 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 (2GB)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~EUR 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Batteries, enclosures, cables, misc.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~EUR 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657600"/>
            <a:ext cx="5166360" cy="47548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1246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software, firmware, and dashboards: EUR 0  (100% open source)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1600200"/>
            <a:ext cx="3200400" cy="2542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71907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this generates cannot be replicated in a lab at any price.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943600" y="2816352"/>
            <a:ext cx="2651760" cy="0"/>
          </a:xfrm>
          <a:prstGeom prst="line">
            <a:avLst/>
          </a:prstGeom>
          <a:noFill/>
          <a:ln w="10160">
            <a:solidFill>
              <a:srgbClr val="95D5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2907792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services required.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on local network.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20 nodes without redesign.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3159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most research equipment purchases. More scientific output than most 3-year lab studies.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committee is asked to fund Phase 1 only.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43200" cy="36393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71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2468880" cy="36576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761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zone, one greenhouse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1868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acoustic survey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alerting live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645152"/>
            <a:ext cx="246888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645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3240" y="3017520"/>
            <a:ext cx="73152" cy="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85292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182112" y="1261872"/>
            <a:ext cx="2743200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9272" y="1371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9272" y="1737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Romeo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319272" y="2286000"/>
            <a:ext cx="2468880" cy="36576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 nodes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9272" y="2761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Romeo greenhouse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9272" y="321868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species coverage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TDOA localisation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publication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9272" y="4645152"/>
            <a:ext cx="2468880" cy="201168"/>
          </a:xfrm>
          <a:prstGeom prst="rect">
            <a:avLst/>
          </a:prstGeom>
          <a:solidFill>
            <a:srgbClr val="F8FAF9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4645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funding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71032" y="3017520"/>
            <a:ext cx="73152" cy="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5312" y="285292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89904" y="1261872"/>
            <a:ext cx="2743200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27064" y="1371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27064" y="1737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Greenhouses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227064" y="2286000"/>
            <a:ext cx="2468880" cy="36576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16-20 nodes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27064" y="2761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Romeo and Julia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27064" y="321868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research platform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nodes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dashboard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27064" y="4645152"/>
            <a:ext cx="2468880" cy="201168"/>
          </a:xfrm>
          <a:prstGeom prst="rect">
            <a:avLst/>
          </a:prstGeom>
          <a:solidFill>
            <a:srgbClr val="F8FAF9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4645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funding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097280"/>
            <a:ext cx="5029200" cy="5029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560320"/>
            <a:ext cx="3200400" cy="32004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PhytoSense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botanical garden is not a constraint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this project. It is the reason the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is scientifically interesting.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123444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0906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exotic species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91640" y="3017520"/>
            <a:ext cx="123444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91640" y="30906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 218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3017520"/>
            <a:ext cx="123444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30906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17520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paths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017520"/>
            <a:ext cx="123444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3400" y="30906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43400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software 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Oulu Botanical Garden  |  Romeo &amp; Julia  |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PhytoSense</dc:title>
  <dc:subject>PptxGenJS Presentation</dc:subject>
  <dc:creator>PhytoSense Team</dc:creator>
  <cp:lastModifiedBy>PhytoSense Team</cp:lastModifiedBy>
  <cp:revision>1</cp:revision>
  <dcterms:created xsi:type="dcterms:W3CDTF">2026-05-09T11:07:10Z</dcterms:created>
  <dcterms:modified xsi:type="dcterms:W3CDTF">2026-05-09T11:07:10Z</dcterms:modified>
</cp:coreProperties>
</file>