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8" r:id="rId12"/>
    <p:sldId id="269" r:id="rId13"/>
    <p:sldId id="264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6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9927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0BF99-5B81-CB87-BC53-D3419C3D3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4DEB1-4E2A-D935-ACEB-4BF247096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51DA3-8B4C-5B85-B36B-A6E077860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CC6C8-75F8-F9C5-5A84-5DCF47ACF2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85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B4339-B4B8-CE2A-F3EE-E905AF39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ED99D-C578-3954-6E57-422539A62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3E2B2-D98F-8440-CD85-6AD1BF87A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16375-E55C-6147-4DDE-AF91DA3027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188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3926-F2D6-92B3-9B54-44BBF0B6E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E1C8B-901E-0766-3A4E-6D9576DE0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BC52D-0AFA-662F-6C03-EF3C3CFED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D3C59-9678-23B3-10AC-F303B6E15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542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DC75C-18C9-04E7-1142-EB9A954ED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40578-5A33-1E20-85C4-F985A1330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C0999-556A-3E67-D1C3-65652D298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EC55B-5226-A1CC-9FB1-7115D771A1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258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4A7C43">
              <a:alpha val="15000"/>
            </a:srgbClr>
          </a:solidFill>
          <a:ln w="12700">
            <a:solidFill>
              <a:srgbClr val="4A7C43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80960" y="-457200"/>
            <a:ext cx="2560320" cy="2560320"/>
          </a:xfrm>
          <a:prstGeom prst="ellipse">
            <a:avLst/>
          </a:prstGeom>
          <a:solidFill>
            <a:srgbClr val="5C9E4A">
              <a:alpha val="10000"/>
            </a:srgbClr>
          </a:solidFill>
          <a:ln w="12700">
            <a:solidFill>
              <a:srgbClr val="5C9E4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4864" cy="237744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8AA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OULU  ·  BOTANICAL GARDEN  ·  MAY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Phyto</a:t>
            </a:r>
            <a:r>
              <a:rPr lang="en-US" sz="6400" dirty="0">
                <a:solidFill>
                  <a:srgbClr val="5C9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Sense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58368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C8D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Environmental Monitoring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315468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D0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Romeo &amp; Julia hold 1,200 irreplaceable exotic species.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D0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Finnish winter night can silently stress them all.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D0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is currently listening.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192024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floor rounds happen twice a day, at best.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8D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catches the 3am humidity accumulation in the tropical corner that nobody would find until morning.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2606040" cy="178308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2606040" cy="402336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632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30449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 risk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5488" y="349300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Botrytis &amp; pathogens establish overnight in high humidity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0" y="3017520"/>
            <a:ext cx="2606040" cy="178308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00400" y="3017520"/>
            <a:ext cx="2606040" cy="402336"/>
          </a:xfrm>
          <a:prstGeom prst="rect">
            <a:avLst/>
          </a:prstGeom>
          <a:solidFill>
            <a:srgbClr val="4A7C43"/>
          </a:solidFill>
          <a:ln w="12700">
            <a:solidFill>
              <a:srgbClr val="4A7C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0632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11880" y="30449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Watering gaps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10128" y="349300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Overwatered succulents, parched tropicals — between rounds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35040" y="3017520"/>
            <a:ext cx="2606040" cy="178308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035040" y="3017520"/>
            <a:ext cx="2606040" cy="40233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0632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46520" y="30449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stress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144768" y="349300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Glass-wall cold spots damage specimens silently in Finnish winter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PhytoSense Does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wireless mesh of sensor nodes installed across one greenhouse zone.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carries three sensors that report continuously to a central hub. Staff receive real-time alerts. No cloud services. No ongoing costs. Self-contained on the garden's local network.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4114800" cy="54864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9864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86207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3465576"/>
            <a:ext cx="4114800" cy="54864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575304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53872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5760" y="4142232"/>
            <a:ext cx="4114800" cy="54864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519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421538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800600" y="822960"/>
            <a:ext cx="1965960" cy="169164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910328" y="107899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 220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4910328" y="1783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kern="0" spc="50" dirty="0">
                <a:solidFill>
                  <a:srgbClr val="C8D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MVP hardware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949440" y="822960"/>
            <a:ext cx="1965960" cy="169164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059168" y="107899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E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1,200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7059168" y="1783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kern="0" spc="5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Exotic species monitored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800600" y="2834640"/>
            <a:ext cx="1965960" cy="169164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910328" y="309067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E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/ 7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4910328" y="37947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kern="0" spc="5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949440" y="2834640"/>
            <a:ext cx="1965960" cy="169164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7059168" y="309067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E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 0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7059168" y="37947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kern="0" spc="5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cost (open source)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1 — Fungal Risk Conditions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76656"/>
            <a:ext cx="2743200" cy="4466844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18288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8D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Botrytis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8D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Mould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017520" y="868680"/>
            <a:ext cx="5760720" cy="100584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017520" y="868680"/>
            <a:ext cx="54864" cy="1005840"/>
          </a:xfrm>
          <a:prstGeom prst="rect">
            <a:avLst/>
          </a:prstGeom>
          <a:solidFill>
            <a:srgbClr val="5C9E4A"/>
          </a:solidFill>
          <a:ln w="12700">
            <a:solidFill>
              <a:srgbClr val="5C9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00400" y="91440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7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detects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0" y="126187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humidity + temperature combinations that favour pathogen development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017520" y="2057400"/>
            <a:ext cx="5760720" cy="100584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017520" y="2057400"/>
            <a:ext cx="54864" cy="1005840"/>
          </a:xfrm>
          <a:prstGeom prst="rect">
            <a:avLst/>
          </a:prstGeom>
          <a:solidFill>
            <a:srgbClr val="5C9E4A"/>
          </a:solidFill>
          <a:ln w="12700">
            <a:solidFill>
              <a:srgbClr val="5C9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200400" y="210312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7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matters most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00400" y="24505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when no one is on the floor — humidity accumulates for hours undetected until morning rounds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017520" y="3246120"/>
            <a:ext cx="5760720" cy="100584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017520" y="3246120"/>
            <a:ext cx="54864" cy="1005840"/>
          </a:xfrm>
          <a:prstGeom prst="rect">
            <a:avLst/>
          </a:prstGeom>
          <a:solidFill>
            <a:srgbClr val="5C9E4A"/>
          </a:solidFill>
          <a:ln w="12700">
            <a:solidFill>
              <a:srgbClr val="5C9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200400" y="329184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7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staff receive</a:t>
            </a:r>
            <a:endParaRPr lang="en-US" sz="1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639312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566160" y="36393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the moment conditions enter the risk window — not after damage appears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2 — Watering Problems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76656"/>
            <a:ext cx="2743200" cy="4466844"/>
          </a:xfrm>
          <a:prstGeom prst="rect">
            <a:avLst/>
          </a:prstGeom>
          <a:solidFill>
            <a:srgbClr val="4A7C43"/>
          </a:solidFill>
          <a:ln w="12700">
            <a:solidFill>
              <a:srgbClr val="4A7C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18288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D0F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Soil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D0F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Moisture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017520" y="8046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7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17520" y="111556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desert succulent and a tropical orchid have entirely different moisture needs. One threshold fits neither.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017520" y="1920240"/>
            <a:ext cx="2743200" cy="283464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017520" y="1920240"/>
            <a:ext cx="2743200" cy="45720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127248" y="19476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Overwatered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127248" y="248716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rot, fungal growth, soil compaction — the most common cause of exotic specimen loss in mixed greenhouses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89320" y="1920240"/>
            <a:ext cx="2743200" cy="283464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89320" y="1920240"/>
            <a:ext cx="2743200" cy="45720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99048" y="19476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Underwatered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099048" y="248716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stress, leaf drop, irreversible damage to decades-old specimens before any visual sign appears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017520" y="4069080"/>
            <a:ext cx="5760720" cy="713232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200400" y="4114800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PhytoSense sets per-zone thresholds agreed directly with horticulture staff — not a single global setting.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3 — Environmental Suitability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76656"/>
            <a:ext cx="2743200" cy="44668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18288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8D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Finnish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8D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Winter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017520" y="8046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7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the system watches continuously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17520" y="1234440"/>
            <a:ext cx="5760720" cy="1024128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017520" y="1234440"/>
            <a:ext cx="54864" cy="1024128"/>
          </a:xfrm>
          <a:prstGeom prst="rect">
            <a:avLst/>
          </a:prstGeom>
          <a:solidFill>
            <a:srgbClr val="5C9E4A"/>
          </a:solidFill>
          <a:ln w="12700">
            <a:solidFill>
              <a:srgbClr val="5C9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00400" y="13075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spots near the glass walls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200400" y="162763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Romeo's tropical corner can fall below safe limits on Finnish winter nights — long before a staff member walks the floor.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017520" y="2423160"/>
            <a:ext cx="5760720" cy="1024128"/>
          </a:xfrm>
          <a:prstGeom prst="rect">
            <a:avLst/>
          </a:prstGeom>
          <a:solidFill>
            <a:srgbClr val="EDE8DE"/>
          </a:solidFill>
          <a:ln w="12700">
            <a:solidFill>
              <a:srgbClr val="EDE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017520" y="2423160"/>
            <a:ext cx="54864" cy="1024128"/>
          </a:xfrm>
          <a:prstGeom prst="rect">
            <a:avLst/>
          </a:prstGeom>
          <a:solidFill>
            <a:srgbClr val="5C9E4A"/>
          </a:solidFill>
          <a:ln w="12700">
            <a:solidFill>
              <a:srgbClr val="5C9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00400" y="24963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collapse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200400" y="281635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systems dry the air. The tropical zone can lose safe humidity levels within hours during cold snaps.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017520" y="3611880"/>
            <a:ext cx="5760720" cy="1024128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017520" y="3611880"/>
            <a:ext cx="54864" cy="1024128"/>
          </a:xfrm>
          <a:prstGeom prst="rect">
            <a:avLst/>
          </a:prstGeom>
          <a:solidFill>
            <a:srgbClr val="5C9E4A"/>
          </a:solidFill>
          <a:ln w="12700">
            <a:solidFill>
              <a:srgbClr val="5C9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200400" y="3685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heat accumulation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200400" y="400507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greenhouses trap heat. Sensitive specimens — orchids, carnivorous plants, decades-old rarities — need early warning.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1965960" cy="397764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1965960" cy="77724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92" y="822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D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877824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16642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2212848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ESP32 nodes, each with soil moisture, humidity and temperature sensors. Battery powered, wireless, no cabling required.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86000" y="1115568"/>
            <a:ext cx="182880" cy="36576"/>
          </a:xfrm>
          <a:prstGeom prst="rect">
            <a:avLst/>
          </a:prstGeom>
          <a:solidFill>
            <a:srgbClr val="8AAB7E"/>
          </a:solidFill>
          <a:ln w="12700">
            <a:solidFill>
              <a:srgbClr val="8AA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240280" y="1033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A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468880" y="804672"/>
            <a:ext cx="1965960" cy="397764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468880" y="804672"/>
            <a:ext cx="1965960" cy="777240"/>
          </a:xfrm>
          <a:prstGeom prst="rect">
            <a:avLst/>
          </a:prstGeom>
          <a:solidFill>
            <a:srgbClr val="4A7C43"/>
          </a:solidFill>
          <a:ln w="12700">
            <a:solidFill>
              <a:srgbClr val="4A7C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542032" y="822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D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877824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60320" y="16642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Mesh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560320" y="2212848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communicate continuously over the greenhouse WiFi network to a central Raspberry Pi hub on the garden's local network.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434840" y="1115568"/>
            <a:ext cx="182880" cy="36576"/>
          </a:xfrm>
          <a:prstGeom prst="rect">
            <a:avLst/>
          </a:prstGeom>
          <a:solidFill>
            <a:srgbClr val="8AAB7E"/>
          </a:solidFill>
          <a:ln w="12700">
            <a:solidFill>
              <a:srgbClr val="8AA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389120" y="1033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A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617720" y="804672"/>
            <a:ext cx="1965960" cy="397764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617720" y="804672"/>
            <a:ext cx="1965960" cy="777240"/>
          </a:xfrm>
          <a:prstGeom prst="rect">
            <a:avLst/>
          </a:prstGeom>
          <a:solidFill>
            <a:srgbClr val="4A7C43"/>
          </a:solidFill>
          <a:ln w="12700">
            <a:solidFill>
              <a:srgbClr val="4A7C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690872" y="822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D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877824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09160" y="16642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Alerts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709160" y="2212848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 on the Pi logs all data and fires real-time alerts to horticulture staff when any threshold is crossed.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583680" y="1115568"/>
            <a:ext cx="182880" cy="36576"/>
          </a:xfrm>
          <a:prstGeom prst="rect">
            <a:avLst/>
          </a:prstGeom>
          <a:solidFill>
            <a:srgbClr val="8AAB7E"/>
          </a:solidFill>
          <a:ln w="12700">
            <a:solidFill>
              <a:srgbClr val="8AA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537960" y="1033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A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766560" y="804672"/>
            <a:ext cx="1965960" cy="397764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6766560" y="804672"/>
            <a:ext cx="1965960" cy="77724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6839712" y="822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D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877824"/>
            <a:ext cx="411480" cy="4114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858000" y="16642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Dashboards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858000" y="2212848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staff-only view with zone status and alert history, plus a visitor-facing exhibit showing live plant environment conditions.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46325A-B308-AC3F-331E-F6DAAE9EF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0919464A-C5B6-18DB-C60F-A9321178D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96" y="549178"/>
            <a:ext cx="7350914" cy="4594321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AC2EE59D-6BC9-7DA3-5588-61AA95D27456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81BE7D5-21A2-FF9F-E996-7FC8D3C5961F}"/>
              </a:ext>
            </a:extLst>
          </p:cNvPr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04F1788-E3BA-9A60-F633-216430C933B2}"/>
              </a:ext>
            </a:extLst>
          </p:cNvPr>
          <p:cNvSpPr/>
          <p:nvPr/>
        </p:nvSpPr>
        <p:spPr>
          <a:xfrm>
            <a:off x="365760" y="109728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 Node</a:t>
            </a:r>
            <a:endParaRPr lang="en-US" sz="2000" dirty="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7C9E2FE0-FF09-1926-FA54-23DDF585FFE0}"/>
              </a:ext>
            </a:extLst>
          </p:cNvPr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77381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4A40B-A290-B541-5626-7ADF080C2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E44FE4-62E0-EF7E-3782-37FC933B4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084" y="610240"/>
            <a:ext cx="6593831" cy="4533259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31061FF7-4C4E-41F9-08E5-E72090C5B76B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0A45C05-F6EB-4041-140F-301866D3FCC5}"/>
              </a:ext>
            </a:extLst>
          </p:cNvPr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C3A924-63DF-9E69-195D-10F9F9EE7453}"/>
              </a:ext>
            </a:extLst>
          </p:cNvPr>
          <p:cNvSpPr/>
          <p:nvPr/>
        </p:nvSpPr>
        <p:spPr>
          <a:xfrm>
            <a:off x="365760" y="109728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 Network</a:t>
            </a:r>
            <a:endParaRPr lang="en-US" sz="2000" dirty="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F0876494-3BBE-056D-AAC1-45B323C7979F}"/>
              </a:ext>
            </a:extLst>
          </p:cNvPr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41927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Dashboards, One Data Source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6915" y="818422"/>
            <a:ext cx="4069080" cy="397764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960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Dashboard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" y="1536192"/>
            <a:ext cx="4069080" cy="27432"/>
          </a:xfrm>
          <a:prstGeom prst="rect">
            <a:avLst/>
          </a:prstGeom>
          <a:solidFill>
            <a:srgbClr val="8AAB7E"/>
          </a:solidFill>
          <a:ln w="12700">
            <a:solidFill>
              <a:srgbClr val="8AA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664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Colour-coded zone status — green, amber, red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1214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Real-time threshold alerts to staff devices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25786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Full data history and overnight logs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30358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Thresholds configured with horticulture staff at installation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" y="34930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Internal only — no public access to operational data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54880" y="804672"/>
            <a:ext cx="4069080" cy="397764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54880" y="804672"/>
            <a:ext cx="4069080" cy="54864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96012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960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Visitor Exhibit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754880" y="1536192"/>
            <a:ext cx="4069080" cy="27432"/>
          </a:xfrm>
          <a:prstGeom prst="rect">
            <a:avLst/>
          </a:prstGeom>
          <a:solidFill>
            <a:srgbClr val="8AAB7E"/>
          </a:solidFill>
          <a:ln w="12700">
            <a:solidFill>
              <a:srgbClr val="8AA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937760" y="16642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Live environmental conditions framed as the plant experience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937760" y="21214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"Tropical corner: warm and humid — comfortable"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937760" y="25786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operational alerts — no data that reflects on maintenance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937760" y="3035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Invites visitors into the science happening in real time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937760" y="34930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Interactive exhibit at zero additional hardware cost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6F7E9-D074-D725-F594-D8C9256D4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8E604927-BF4C-C93C-24A2-DC0317EEB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12" y="560922"/>
            <a:ext cx="6982976" cy="4582578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3FCE8DDB-6AF1-066D-E92B-3AB1E9B9B3A8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B54E45A-5D0C-0B79-6886-4A921E8D5044}"/>
              </a:ext>
            </a:extLst>
          </p:cNvPr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5005729-9E3E-ADE4-D13F-C1D6466E9FC7}"/>
              </a:ext>
            </a:extLst>
          </p:cNvPr>
          <p:cNvSpPr/>
          <p:nvPr/>
        </p:nvSpPr>
        <p:spPr>
          <a:xfrm>
            <a:off x="365760" y="10972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Dashboard</a:t>
            </a:r>
            <a:endParaRPr lang="en-US" sz="20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821C2301-D30A-E0E0-75C2-2FFCDD553290}"/>
              </a:ext>
            </a:extLst>
          </p:cNvPr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21996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F501C4-7F6F-EE3B-31A2-AB78691D4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26F8EAA-2609-2089-D70C-0871EBE9B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18" y="548640"/>
            <a:ext cx="6990764" cy="4587689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B61FA07D-A8F8-F363-3A82-FBF2517F8EB8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470AAC6-4D92-1E42-4E8F-23E8710A5D9D}"/>
              </a:ext>
            </a:extLst>
          </p:cNvPr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FD69BCC-AD56-F0CA-FE70-FEE8BE13AFE7}"/>
              </a:ext>
            </a:extLst>
          </p:cNvPr>
          <p:cNvSpPr/>
          <p:nvPr/>
        </p:nvSpPr>
        <p:spPr>
          <a:xfrm>
            <a:off x="365760" y="10972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Visitor Dashboard</a:t>
            </a:r>
            <a:endParaRPr lang="en-US" sz="20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2B7A063C-CD04-E242-1D47-5AE2DBFAC791}"/>
              </a:ext>
            </a:extLst>
          </p:cNvPr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59974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&amp; Scale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14800" cy="201168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 220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C8D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Phase 1 MVP hardware cost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AA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systems with equivalent capability: several thousand euros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9992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A7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Components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364992"/>
            <a:ext cx="4114800" cy="256032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340156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microcontrollers (x5)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34015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A7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~EUR 40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3639312"/>
            <a:ext cx="4114800" cy="256032"/>
          </a:xfrm>
          <a:prstGeom prst="rect">
            <a:avLst/>
          </a:prstGeom>
          <a:solidFill>
            <a:srgbClr val="EDE8DE"/>
          </a:solidFill>
          <a:ln w="12700">
            <a:solidFill>
              <a:srgbClr val="EDE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67588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hub (2GB)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36758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A7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~EUR 55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913632"/>
            <a:ext cx="4114800" cy="256032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95020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SHT31-D humidity + temp sensors (x4)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395020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A7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~EUR 18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4187952"/>
            <a:ext cx="4114800" cy="256032"/>
          </a:xfrm>
          <a:prstGeom prst="rect">
            <a:avLst/>
          </a:prstGeom>
          <a:solidFill>
            <a:srgbClr val="EDE8DE"/>
          </a:solidFill>
          <a:ln w="12700">
            <a:solidFill>
              <a:srgbClr val="EDE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42245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sensors (x8)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0440" y="42245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A7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~EUR 12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4462272"/>
            <a:ext cx="4114800" cy="256032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4988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18650 batteries &amp; charge modules (x4)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20440" y="44988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A7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~EUR 22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4736592"/>
            <a:ext cx="4114800" cy="256032"/>
          </a:xfrm>
          <a:prstGeom prst="rect">
            <a:avLst/>
          </a:prstGeom>
          <a:solidFill>
            <a:srgbClr val="EDE8DE"/>
          </a:solidFill>
          <a:ln w="12700">
            <a:solidFill>
              <a:srgbClr val="EDE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477316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Enclosures, PCB, cables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20440" y="47731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A7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~EUR 47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7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— committee asked to fund Phase 1 only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261872"/>
            <a:ext cx="4114800" cy="1097280"/>
          </a:xfrm>
          <a:prstGeom prst="rect">
            <a:avLst/>
          </a:prstGeom>
          <a:solidFill>
            <a:srgbClr val="2E4A2B"/>
          </a:solidFill>
          <a:ln w="12700">
            <a:solidFill>
              <a:srgbClr val="2E4A2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1261872"/>
            <a:ext cx="256032" cy="109728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20640" y="13533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20640" y="17007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C8D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nodes · one zone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120640" y="19751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proposal. Staff alerts live from installation.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523744"/>
            <a:ext cx="4114800" cy="109728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20640" y="261518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20640" y="29626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 nodes · Romeo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20640" y="32369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tropical and subtropical coverage.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seasonal dataset.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785616"/>
            <a:ext cx="4114800" cy="1097280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20640" y="38770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20640" y="41420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16–20 nodes · Both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120640" y="4409473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Romeo and Julia covered.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public exhibit.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nodes.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4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4A7C43">
              <a:alpha val="15000"/>
            </a:srgbClr>
          </a:solidFill>
          <a:ln w="12700">
            <a:solidFill>
              <a:srgbClr val="4A7C43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5C9E4A">
              <a:alpha val="10000"/>
            </a:srgbClr>
          </a:solidFill>
          <a:ln w="12700">
            <a:solidFill>
              <a:srgbClr val="5C9E4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54864" cy="292608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</a:p>
          <a:p>
            <a:pPr marL="0" indent="0">
              <a:lnSpc>
                <a:spcPct val="145000"/>
              </a:lnSpc>
              <a:buNone/>
            </a:pPr>
            <a:br>
              <a:rPr lang="en-US" sz="2000" i="1" dirty="0">
                <a:solidFill>
                  <a:srgbClr val="FFFFFF"/>
                </a:solidFill>
                <a:latin typeface="Georgia" pitchFamily="34" charset="0"/>
              </a:rPr>
            </a:br>
            <a:r>
              <a:rPr lang="en-US" sz="2000" i="1" dirty="0">
                <a:solidFill>
                  <a:srgbClr val="FFFFFF"/>
                </a:solidFill>
                <a:latin typeface="Georgia" pitchFamily="34" charset="0"/>
              </a:rPr>
              <a:t>Questions?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A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PhytoSense  ·  University of Oulu  ·  May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792</Words>
  <Application>Microsoft Office PowerPoint</Application>
  <PresentationFormat>On-screen Show (16:9)</PresentationFormat>
  <Paragraphs>152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Aloka Seneviratne</cp:lastModifiedBy>
  <cp:revision>3</cp:revision>
  <dcterms:created xsi:type="dcterms:W3CDTF">2026-05-12T08:53:13Z</dcterms:created>
  <dcterms:modified xsi:type="dcterms:W3CDTF">2026-05-12T17:05:52Z</dcterms:modified>
</cp:coreProperties>
</file>